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U_DARK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5756" y="320040"/>
            <a:ext cx="607300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6263640"/>
            <a:ext cx="10911535" cy="0"/>
          </a:xfrm>
          <a:prstGeom prst="line">
            <a:avLst/>
          </a:prstGeom>
          <a:noFill/>
          <a:ln w="9525">
            <a:solidFill>
              <a:srgbClr val="D4B978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U_LIGHT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5756" y="320040"/>
            <a:ext cx="607300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6263640"/>
            <a:ext cx="10911535" cy="0"/>
          </a:xfrm>
          <a:prstGeom prst="line">
            <a:avLst/>
          </a:prstGeom>
          <a:noFill/>
          <a:ln w="9525">
            <a:solidFill>
              <a:srgbClr val="C4A55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rtu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hyperlink" Target="https://www.vertu.com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tu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tu.com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tu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tu.com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tu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tu.com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vertu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rtu.com" TargetMode="External"/><Relationship Id="rId3" Type="http://schemas.openxmlformats.org/officeDocument/2006/relationships/hyperlink" Target="mailto:press@vertu.com" TargetMode="External"/><Relationship Id="rId4" Type="http://schemas.openxmlformats.org/officeDocument/2006/relationships/hyperlink" Target="https://www.vertu.com" TargetMode="External"/><Relationship Id="rId1" Type="http://schemas.openxmlformats.org/officeDocument/2006/relationships/image" Target="../media/image-10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9050">
            <a:solidFill>
              <a:srgbClr val="D4B9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20624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221E1A"/>
          </a:solidFill>
          <a:ln w="5080">
            <a:solidFill>
              <a:srgbClr val="2A2622"/>
            </a:solidFill>
            <a:prstDash val="solid"/>
          </a:ln>
        </p:spPr>
      </p:sp>
      <p:pic>
        <p:nvPicPr>
          <p:cNvPr id="4" name="Image 0" descr="VER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1380226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1243584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800" kern="0" dirty="0">
                <a:solidFill>
                  <a:srgbClr val="F2EDE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VERTU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731520" y="2468880"/>
            <a:ext cx="2560320" cy="0"/>
          </a:xfrm>
          <a:prstGeom prst="line">
            <a:avLst/>
          </a:prstGeom>
          <a:noFill/>
          <a:ln w="12700">
            <a:solidFill>
              <a:srgbClr val="D4B9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606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PRESENTATION SYSTEM  ·  16:9 ·  2026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premium deck system for one insight per slide, editorial rhythm, and partner-ready campaign storytelling.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00032" y="2926080"/>
            <a:ext cx="2240280" cy="1097280"/>
          </a:xfrm>
          <a:prstGeom prst="roundRect">
            <a:avLst>
              <a:gd name="adj" fmla="val 5000"/>
            </a:avLst>
          </a:prstGeom>
          <a:solidFill>
            <a:srgbClr val="221E1A"/>
          </a:solidFill>
          <a:ln w="5080">
            <a:solidFill>
              <a:srgbClr val="2A26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D4B9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10012680" y="33101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story tracks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4434840"/>
            <a:ext cx="8412480" cy="1764792"/>
          </a:xfrm>
          <a:prstGeom prst="roundRect">
            <a:avLst>
              <a:gd name="adj" fmla="val 3109"/>
            </a:avLst>
          </a:prstGeom>
          <a:solidFill>
            <a:srgbClr val="1D1A16"/>
          </a:solidFill>
          <a:ln w="5080">
            <a:solidFill>
              <a:srgbClr val="2A26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4544568"/>
            <a:ext cx="782726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Designed for 2026-style visual systems: modular composition, bold headline hierarchy, and high signal-to-noise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a single claim and one clear proof point on each slide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motion and imagery as framing, not decoration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5897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v4.0  ·  2026  ·  VERTU Limited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D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Deck Layout 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D4B9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Navigate by content blocks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this module order for campaign decks with predictable review flow.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907792"/>
            <a:ext cx="3466490" cy="914400"/>
          </a:xfrm>
          <a:prstGeom prst="roundRect">
            <a:avLst>
              <a:gd name="adj" fmla="val 6000"/>
            </a:avLst>
          </a:prstGeom>
          <a:solidFill>
            <a:srgbClr val="1D1A16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8" name="Text 6">
            <a:hlinkClick r:id="rId1" tooltip="Jump to 01  ·  IDENTITY" action="ppaction://hlinksldjump"/>
          </p:cNvPr>
          <p:cNvSpPr/>
          <p:nvPr/>
        </p:nvSpPr>
        <p:spPr>
          <a:xfrm>
            <a:off x="950976" y="3017520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Jump to 01  ·  IDENT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 ·  IDENTITY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3273552"/>
            <a:ext cx="30275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signature language and usage discipline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54042" y="2907792"/>
            <a:ext cx="3466490" cy="914400"/>
          </a:xfrm>
          <a:prstGeom prst="roundRect">
            <a:avLst>
              <a:gd name="adj" fmla="val 6000"/>
            </a:avLst>
          </a:prstGeom>
          <a:solidFill>
            <a:srgbClr val="1D1A16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11" name="Text 9">
            <a:hlinkClick r:id="rId2" tooltip="Jump to 02  ·  COLOUR" action="ppaction://hlinksldjump"/>
          </p:cNvPr>
          <p:cNvSpPr/>
          <p:nvPr/>
        </p:nvSpPr>
        <p:spPr>
          <a:xfrm>
            <a:off x="4673498" y="3017520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action="ppaction://hlinksldjump" tooltip="Jump to 02  ·  COL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 ·  COLOUR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73498" y="3273552"/>
            <a:ext cx="30275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Palette logic and contrast constraints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76565" y="2907792"/>
            <a:ext cx="3466490" cy="914400"/>
          </a:xfrm>
          <a:prstGeom prst="roundRect">
            <a:avLst>
              <a:gd name="adj" fmla="val 6000"/>
            </a:avLst>
          </a:prstGeom>
          <a:solidFill>
            <a:srgbClr val="1D1A16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14" name="Text 12">
            <a:hlinkClick r:id="rId3" tooltip="Jump to 03  ·  TYPOGRAPHY" action="ppaction://hlinksldjump"/>
          </p:cNvPr>
          <p:cNvSpPr/>
          <p:nvPr/>
        </p:nvSpPr>
        <p:spPr>
          <a:xfrm>
            <a:off x="8396021" y="3017520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3" action="ppaction://hlinksldjump" tooltip="Jump to 03  ·  TYPOGRAPH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 ·  TYPOGRAPHY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96021" y="3273552"/>
            <a:ext cx="30275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Hierarchy for readable premium composition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078224"/>
            <a:ext cx="3466490" cy="914400"/>
          </a:xfrm>
          <a:prstGeom prst="roundRect">
            <a:avLst>
              <a:gd name="adj" fmla="val 6000"/>
            </a:avLst>
          </a:prstGeom>
          <a:solidFill>
            <a:srgbClr val="1D1A16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17" name="Text 15">
            <a:hlinkClick r:id="rId4" tooltip="Jump to 04  ·  IMAGERY" action="ppaction://hlinksldjump"/>
          </p:cNvPr>
          <p:cNvSpPr/>
          <p:nvPr/>
        </p:nvSpPr>
        <p:spPr>
          <a:xfrm>
            <a:off x="950976" y="4187952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4" action="ppaction://hlinksldjump" tooltip="Jump to 04  ·  IMAGE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 ·  IMAGERY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4443984"/>
            <a:ext cx="30275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Bento composition and visual rhythm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54042" y="4078224"/>
            <a:ext cx="3466490" cy="914400"/>
          </a:xfrm>
          <a:prstGeom prst="roundRect">
            <a:avLst>
              <a:gd name="adj" fmla="val 6000"/>
            </a:avLst>
          </a:prstGeom>
          <a:solidFill>
            <a:srgbClr val="1D1A16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20" name="Text 18">
            <a:hlinkClick r:id="rId5" tooltip="Jump to 05  ·  DATA" action="ppaction://hlinksldjump"/>
          </p:cNvPr>
          <p:cNvSpPr/>
          <p:nvPr/>
        </p:nvSpPr>
        <p:spPr>
          <a:xfrm>
            <a:off x="4673498" y="4187952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5" action="ppaction://hlinksldjump" tooltip="Jump to 05  · 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  · 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73498" y="4443984"/>
            <a:ext cx="30275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insight charts and decision framing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76565" y="4078224"/>
            <a:ext cx="3466490" cy="914400"/>
          </a:xfrm>
          <a:prstGeom prst="roundRect">
            <a:avLst>
              <a:gd name="adj" fmla="val 6000"/>
            </a:avLst>
          </a:prstGeom>
          <a:solidFill>
            <a:srgbClr val="1D1A16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23" name="Text 21">
            <a:hlinkClick r:id="rId6" tooltip="Jump to 06  ·  DELIVERY" action="ppaction://hlinksldjump"/>
          </p:cNvPr>
          <p:cNvSpPr/>
          <p:nvPr/>
        </p:nvSpPr>
        <p:spPr>
          <a:xfrm>
            <a:off x="8396021" y="4187952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6" action="ppaction://hlinksldjump" tooltip="Jump to 06  ·  DELIVE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  ·  DELIVERY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96021" y="4443984"/>
            <a:ext cx="30275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and release workflow control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5248656"/>
            <a:ext cx="3466490" cy="914400"/>
          </a:xfrm>
          <a:prstGeom prst="roundRect">
            <a:avLst>
              <a:gd name="adj" fmla="val 6000"/>
            </a:avLst>
          </a:prstGeom>
          <a:solidFill>
            <a:srgbClr val="1D1A16"/>
          </a:solidFill>
          <a:ln w="6350">
            <a:solidFill>
              <a:srgbClr val="2A2622"/>
            </a:solidFill>
            <a:prstDash val="solid"/>
          </a:ln>
        </p:spPr>
      </p:sp>
      <p:sp>
        <p:nvSpPr>
          <p:cNvPr id="26" name="Text 24">
            <a:hlinkClick r:id="rId7" tooltip="Jump to 07  ·  ASSETS" action="ppaction://hlinksldjump"/>
          </p:cNvPr>
          <p:cNvSpPr/>
          <p:nvPr/>
        </p:nvSpPr>
        <p:spPr>
          <a:xfrm>
            <a:off x="950976" y="5358384"/>
            <a:ext cx="3027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7" action="ppaction://hlinksldjump" tooltip="Jump to 07  ·  ASS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  ·  ASSETS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" y="5614416"/>
            <a:ext cx="30275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 standards for circulation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8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·  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D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Identity Foundation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D4B9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Signature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presence is controlled by contrast, whitespace, and hierarchy.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10884103" cy="1453896"/>
          </a:xfrm>
          <a:prstGeom prst="roundRect">
            <a:avLst>
              <a:gd name="adj" fmla="val 3774"/>
            </a:avLst>
          </a:prstGeom>
          <a:solidFill>
            <a:srgbClr val="1D1A16"/>
          </a:solidFill>
          <a:ln w="5080">
            <a:solidFill>
              <a:srgbClr val="2A2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103720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primary wordmark states consistently on dark and light environments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accents reserved for section metadata and signature hierarchy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over-decoration and mixed type-scale conflicts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626864"/>
            <a:ext cx="10911535" cy="0"/>
          </a:xfrm>
          <a:prstGeom prst="line">
            <a:avLst/>
          </a:prstGeom>
          <a:noFill/>
          <a:ln w="6350">
            <a:solidFill>
              <a:srgbClr val="2A2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18304"/>
            <a:ext cx="21945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4718304"/>
            <a:ext cx="8625535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Editorial restraint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445252"/>
            <a:ext cx="21945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5445252"/>
            <a:ext cx="8625535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Campaign, internal, partner-facing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·  COLOUR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8080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Colour Language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C4A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Palette &amp; Contrast Rules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853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palette relationships that preserve premium perception and clear contrast.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10884103" cy="1453896"/>
          </a:xfrm>
          <a:prstGeom prst="roundRect">
            <a:avLst>
              <a:gd name="adj" fmla="val 3774"/>
            </a:avLst>
          </a:prstGeom>
          <a:solidFill>
            <a:srgbClr val="F6F1E7"/>
          </a:solidFill>
          <a:ln w="5080">
            <a:solidFill>
              <a:srgbClr val="E8E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103720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surfaces: black, charcoal, cream, ivory, and titanium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should be a focused accent, never the default body tone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Always preserve readability before decoration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626864"/>
            <a:ext cx="10911535" cy="0"/>
          </a:xfrm>
          <a:prstGeom prst="line">
            <a:avLst/>
          </a:prstGeom>
          <a:noFill/>
          <a:ln w="6350">
            <a:solidFill>
              <a:srgbClr val="E8E3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18304"/>
            <a:ext cx="21945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Foreground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4718304"/>
            <a:ext cx="8625535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8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Black or cream surfaces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445252"/>
            <a:ext cx="21945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Highlight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5445252"/>
            <a:ext cx="8625535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8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Gold accent tags and separators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8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·  TYPOGRAPHY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D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Typography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D4B9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Editorial Rhythm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Respect display and body pairing with strict metadata spacing.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10884103" cy="1453896"/>
          </a:xfrm>
          <a:prstGeom prst="roundRect">
            <a:avLst>
              <a:gd name="adj" fmla="val 3774"/>
            </a:avLst>
          </a:prstGeom>
          <a:solidFill>
            <a:srgbClr val="1D1A16"/>
          </a:solidFill>
          <a:ln w="5080">
            <a:solidFill>
              <a:srgbClr val="2A2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103720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Playfair Display for identity and headline blocks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 for body structure and explanatory copy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Mono only where metadata is the primary information carrier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626864"/>
            <a:ext cx="10911535" cy="0"/>
          </a:xfrm>
          <a:prstGeom prst="line">
            <a:avLst/>
          </a:prstGeom>
          <a:noFill/>
          <a:ln w="6350">
            <a:solidFill>
              <a:srgbClr val="2A2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18304"/>
            <a:ext cx="21945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Title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4718304"/>
            <a:ext cx="8625535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Reserved for section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445252"/>
            <a:ext cx="21945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5445252"/>
            <a:ext cx="8625535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claim + supporting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·  IMAGERY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8080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Imagery Direction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C4A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Bento Visual Language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853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the environment quiet so material details remain primary, then distribute context across modular cards.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327752" cy="1207008"/>
          </a:xfrm>
          <a:prstGeom prst="roundRect">
            <a:avLst>
              <a:gd name="adj" fmla="val 4545"/>
            </a:avLst>
          </a:prstGeom>
          <a:solidFill>
            <a:srgbClr val="F6F1E7"/>
          </a:solidFill>
          <a:ln w="5715">
            <a:solidFill>
              <a:srgbClr val="E8E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880360"/>
            <a:ext cx="488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Panel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3246120"/>
            <a:ext cx="488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visual first; keep surrounding elements calm.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15304" y="2743200"/>
            <a:ext cx="5327752" cy="1207008"/>
          </a:xfrm>
          <a:prstGeom prst="roundRect">
            <a:avLst>
              <a:gd name="adj" fmla="val 4545"/>
            </a:avLst>
          </a:prstGeom>
          <a:solidFill>
            <a:srgbClr val="F6F1E7"/>
          </a:solidFill>
          <a:ln w="5715">
            <a:solidFill>
              <a:srgbClr val="E8E3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4760" y="2880360"/>
            <a:ext cx="488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Proof Panel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4760" y="3246120"/>
            <a:ext cx="488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claim backed by one data cue.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327752" cy="1207008"/>
          </a:xfrm>
          <a:prstGeom prst="roundRect">
            <a:avLst>
              <a:gd name="adj" fmla="val 4545"/>
            </a:avLst>
          </a:prstGeom>
          <a:solidFill>
            <a:srgbClr val="F6F1E7"/>
          </a:solidFill>
          <a:ln w="5715">
            <a:solidFill>
              <a:srgbClr val="E8E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343400"/>
            <a:ext cx="488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 Panel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0976" y="4709160"/>
            <a:ext cx="488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Location, audience, and timing reference.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15304" y="4206240"/>
            <a:ext cx="5327752" cy="1207008"/>
          </a:xfrm>
          <a:prstGeom prst="roundRect">
            <a:avLst>
              <a:gd name="adj" fmla="val 4545"/>
            </a:avLst>
          </a:prstGeom>
          <a:solidFill>
            <a:srgbClr val="F6F1E7"/>
          </a:solidFill>
          <a:ln w="5715">
            <a:solidFill>
              <a:srgbClr val="E8E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4760" y="4343400"/>
            <a:ext cx="488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Execution Panel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4760" y="4709160"/>
            <a:ext cx="488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Production-ready status and next step.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EFE9DE"/>
          </a:solidFill>
          <a:ln w="5715">
            <a:solidFill>
              <a:srgbClr val="E8E3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7365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Visual cadence 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1480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E88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Insert optional montage strip, one to three supporting assets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8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·  DATA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D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Data Storytelling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D4B9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Claim → Evidence → Decision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each data slide with one bold insight and one visual cue.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6328690" cy="1554480"/>
          </a:xfrm>
          <a:prstGeom prst="roundRect">
            <a:avLst>
              <a:gd name="adj" fmla="val 3529"/>
            </a:avLst>
          </a:prstGeom>
          <a:solidFill>
            <a:srgbClr val="1D1A16"/>
          </a:solidFill>
          <a:ln w="5080">
            <a:solidFill>
              <a:srgbClr val="221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D4B97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505456" y="3246120"/>
            <a:ext cx="44084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INSIGHT PER SLIDE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6328690" cy="1536192"/>
          </a:xfrm>
          <a:prstGeom prst="roundRect">
            <a:avLst>
              <a:gd name="adj" fmla="val 3571"/>
            </a:avLst>
          </a:prstGeom>
          <a:solidFill>
            <a:srgbClr val="111111"/>
          </a:solidFill>
          <a:ln w="5080">
            <a:solidFill>
              <a:srgbClr val="2A2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727448"/>
            <a:ext cx="581662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the insight in one sentence, then prove it with one reference</a:t>
            </a:r>
            <a:endParaRPr lang="en-US" sz="125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simple chart framing over dense dashboards</a:t>
            </a:r>
            <a:endParaRPr lang="en-US" sz="125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the action or decision clearly at the bottom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71106" y="2743200"/>
            <a:ext cx="4271949" cy="2743200"/>
          </a:xfrm>
          <a:prstGeom prst="roundRect">
            <a:avLst>
              <a:gd name="adj" fmla="val 2000"/>
            </a:avLst>
          </a:prstGeom>
          <a:solidFill>
            <a:srgbClr val="221E1A"/>
          </a:solidFill>
          <a:ln w="5715">
            <a:solidFill>
              <a:srgbClr val="2A26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71106" y="3785616"/>
            <a:ext cx="42719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Chart placeholder 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71106" y="4197096"/>
            <a:ext cx="42719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Insert one chart or one comparative visual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·  DELIVERY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8080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Delivery Governance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C4A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Review, Legal &amp; Localization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853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gates must be completed before circulation, even for urgent partner updates.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10884103" cy="1453896"/>
          </a:xfrm>
          <a:prstGeom prst="roundRect">
            <a:avLst>
              <a:gd name="adj" fmla="val 3774"/>
            </a:avLst>
          </a:prstGeom>
          <a:solidFill>
            <a:srgbClr val="F6F1E7"/>
          </a:solidFill>
          <a:ln w="5080">
            <a:solidFill>
              <a:srgbClr val="E8E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103720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claims and pricing against the approved master sheet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 legal-sensitive language through legal review for every region</a:t>
            </a:r>
            <a:endParaRPr lang="en-US" sz="14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81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Localize terminology and product references before multilingual release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626864"/>
            <a:ext cx="10911535" cy="0"/>
          </a:xfrm>
          <a:prstGeom prst="line">
            <a:avLst/>
          </a:prstGeom>
          <a:noFill/>
          <a:ln w="6350">
            <a:solidFill>
              <a:srgbClr val="E8E3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18304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 Sign-off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4718304"/>
            <a:ext cx="86255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8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Mandatory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202936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Legal Sign-off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5202936"/>
            <a:ext cx="86255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8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required by region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687568"/>
            <a:ext cx="2194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5687568"/>
            <a:ext cx="86255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8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EN/CN approved pairs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8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7D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548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·  ASSETS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ED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Asset Standards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408176"/>
            <a:ext cx="1920240" cy="0"/>
          </a:xfrm>
          <a:prstGeom prst="line">
            <a:avLst/>
          </a:prstGeom>
          <a:noFill/>
          <a:ln w="9525">
            <a:solidFill>
              <a:srgbClr val="D4B9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Files, Exports &amp; Visual Consistency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exported file should preserve visual hierarchy and metadata for reusability.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6556248" cy="1673352"/>
          </a:xfrm>
          <a:prstGeom prst="roundRect">
            <a:avLst>
              <a:gd name="adj" fmla="val 3279"/>
            </a:avLst>
          </a:prstGeom>
          <a:solidFill>
            <a:srgbClr val="1D1A16"/>
          </a:solidFill>
          <a:ln w="5080">
            <a:solidFill>
              <a:srgbClr val="2A26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88920"/>
            <a:ext cx="604418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PPTX outputs must keep light/dark tone maps and 16:9 framing</a:t>
            </a:r>
            <a:endParaRPr lang="en-US" sz="13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DOCX outputs retain spacing and metadata blocks for legal</a:t>
            </a:r>
            <a:endParaRPr lang="en-US" sz="1300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D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PNG logos must be high-resolution and named by variant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6268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846320"/>
            <a:ext cx="6583680" cy="0"/>
          </a:xfrm>
          <a:prstGeom prst="line">
            <a:avLst/>
          </a:prstGeom>
          <a:noFill/>
          <a:ln w="6350">
            <a:solidFill>
              <a:srgbClr val="2A26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93776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PPTX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4937760"/>
            <a:ext cx="4297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Editorial deck baseline + placeholders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554980"/>
            <a:ext cx="21945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5554980"/>
            <a:ext cx="42976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5AF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Letterhead and release shell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" y="2779776"/>
            <a:ext cx="10746943" cy="3337560"/>
          </a:xfrm>
          <a:prstGeom prst="roundRect">
            <a:avLst>
              <a:gd name="adj" fmla="val 1644"/>
            </a:avLst>
          </a:prstGeom>
          <a:solidFill>
            <a:srgbClr val="221E1A"/>
          </a:solidFill>
          <a:ln w="5715">
            <a:solidFill>
              <a:srgbClr val="2A26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48049"/>
            <a:ext cx="107469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Chart / Visual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4459529"/>
            <a:ext cx="107469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Insert visual evidence chart area here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39712"/>
            <a:ext cx="12191695" cy="0"/>
          </a:xfrm>
          <a:prstGeom prst="line">
            <a:avLst/>
          </a:prstGeom>
          <a:noFill/>
          <a:ln w="19050">
            <a:solidFill>
              <a:srgbClr val="D4B978"/>
            </a:solidFill>
            <a:prstDash val="solid"/>
          </a:ln>
        </p:spPr>
      </p:sp>
      <p:pic>
        <p:nvPicPr>
          <p:cNvPr id="3" name="Image 0" descr="VERTU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734" y="1353312"/>
            <a:ext cx="138022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39696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2EDE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4724248" y="3200400"/>
            <a:ext cx="2743200" cy="0"/>
          </a:xfrm>
          <a:prstGeom prst="line">
            <a:avLst/>
          </a:prstGeom>
          <a:noFill/>
          <a:ln w="12700">
            <a:solidFill>
              <a:srgbClr val="D4B9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364992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B97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Crafted Beyond Measure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0" y="40233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spc="2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  ·  </a:t>
            </a:r>
            <a:pPr algn="ctr" indent="0" marL="0">
              <a:buNone/>
            </a:pPr>
            <a:r>
              <a:rPr lang="en-US" sz="1000" u="sng" spc="2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press@vertu.com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v4.0  · 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VERTU Limited  ·  </a:t>
            </a:r>
            <a:pPr indent="0" marL="0">
              <a:buNone/>
            </a:pPr>
            <a:r>
              <a:rPr lang="en-US" sz="1000" u="sng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4" invalidUrl="" action="" tgtFrame="" tooltip="Open www.vertu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www.vertu.com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94415" y="6355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B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strumen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VERTU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VERTU Brand Presentation v4.0</dc:title>
  <dc:subject>PptxGenJS Presentation</dc:subject>
  <dc:creator>VERTU Limited</dc:creator>
  <cp:lastModifiedBy>VERTU Limited</cp:lastModifiedBy>
  <cp:revision>1</cp:revision>
  <dcterms:created xsi:type="dcterms:W3CDTF">2026-03-07T05:09:11Z</dcterms:created>
  <dcterms:modified xsi:type="dcterms:W3CDTF">2026-03-07T05:09:11Z</dcterms:modified>
</cp:coreProperties>
</file>