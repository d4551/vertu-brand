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DARK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LIGHT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hyperlink" Target="https://www.vertu.com" TargetMode="Externa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3" Type="http://schemas.openxmlformats.org/officeDocument/2006/relationships/hyperlink" Target="mailto:press@vertu.com" TargetMode="External"/><Relationship Id="rId4" Type="http://schemas.openxmlformats.org/officeDocument/2006/relationships/hyperlink" Target="https://www.vertu.com" TargetMode="External"/><Relationship Id="rId1" Type="http://schemas.openxmlformats.org/officeDocument/2006/relationships/image" Target="../media/image-10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20624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pic>
        <p:nvPicPr>
          <p:cNvPr id="4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1380226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1243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800" kern="0" dirty="0">
                <a:solidFill>
                  <a:srgbClr val="F2EDE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VERTU</a:t>
            </a:r>
            <a:endParaRPr lang="en-US" sz="5600" dirty="0"/>
          </a:p>
        </p:txBody>
      </p:sp>
      <p:sp>
        <p:nvSpPr>
          <p:cNvPr id="6" name="Shape 3"/>
          <p:cNvSpPr/>
          <p:nvPr/>
        </p:nvSpPr>
        <p:spPr>
          <a:xfrm>
            <a:off x="731520" y="2468880"/>
            <a:ext cx="256032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606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PRESENTATION SYSTEM  ·  16:9 ·  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31520" y="3108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premium deck system for one insight per slide, editorial rhythm, and partner-ready campaign storytelling.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00032" y="29260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09760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10012680" y="331012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story tracks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4434840"/>
            <a:ext cx="8412480" cy="1764792"/>
          </a:xfrm>
          <a:prstGeom prst="roundRect">
            <a:avLst>
              <a:gd name="adj" fmla="val 310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4544568"/>
            <a:ext cx="782726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Designed for 2026-style visual systems: modular composition, bold headline hierarchy, and high signal-to-noise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a single claim and one clear proof point on each slide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motion and imagery as framing, not decoration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897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v4.0  ·  2026  ·  VERTU Limited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00  · 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Deck Layout Map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Navigate by content blocks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this module order for campaign decks with predictable review flow.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8" name="Text 6">
            <a:hlinkClick r:id="rId1" tooltip="Jump to 01  ·  IDENTITY" action="ppaction://hlinksldjump"/>
          </p:cNvPr>
          <p:cNvSpPr/>
          <p:nvPr/>
        </p:nvSpPr>
        <p:spPr>
          <a:xfrm>
            <a:off x="950976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Jump to 01  ·  IDENT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 ·  IDENTITY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signature language and usage discipline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54042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>
            <a:hlinkClick r:id="rId2" tooltip="Jump to 02  ·  COLOUR" action="ppaction://hlinksldjump"/>
          </p:cNvPr>
          <p:cNvSpPr/>
          <p:nvPr/>
        </p:nvSpPr>
        <p:spPr>
          <a:xfrm>
            <a:off x="4673498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Jump to 02  ·  COLOU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 ·  COLOUR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3498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Palette logic and contrast constraints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565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4" name="Text 12">
            <a:hlinkClick r:id="rId3" tooltip="Jump to 03  ·  TYPOGRAPHY" action="ppaction://hlinksldjump"/>
          </p:cNvPr>
          <p:cNvSpPr/>
          <p:nvPr/>
        </p:nvSpPr>
        <p:spPr>
          <a:xfrm>
            <a:off x="8396021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action="ppaction://hlinksldjump" tooltip="Jump to 03  ·  TYPOGRAPH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 ·  TYPOGRAPHY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396021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Hierarchy for readable premium composition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7" name="Text 15">
            <a:hlinkClick r:id="rId4" tooltip="Jump to 04  ·  IMAGERY" action="ppaction://hlinksldjump"/>
          </p:cNvPr>
          <p:cNvSpPr/>
          <p:nvPr/>
        </p:nvSpPr>
        <p:spPr>
          <a:xfrm>
            <a:off x="950976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Jump to 04  ·  IMAG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 ·  IMAGERY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50976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Bento composition and visual rhythm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54042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0" name="Text 18">
            <a:hlinkClick r:id="rId5" tooltip="Jump to 05  ·  DATA" action="ppaction://hlinksldjump"/>
          </p:cNvPr>
          <p:cNvSpPr/>
          <p:nvPr/>
        </p:nvSpPr>
        <p:spPr>
          <a:xfrm>
            <a:off x="4673498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5" action="ppaction://hlinksldjump" tooltip="Jump to 05  ·  DA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  ·  DATA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73498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 insight charts and decision framing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76565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3" name="Text 21">
            <a:hlinkClick r:id="rId6" tooltip="Jump to 06  ·  DELIVERY" action="ppaction://hlinksldjump"/>
          </p:cNvPr>
          <p:cNvSpPr/>
          <p:nvPr/>
        </p:nvSpPr>
        <p:spPr>
          <a:xfrm>
            <a:off x="8396021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Jump to 06  ·  DELIV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  ·  DELIVERY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96021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Review and release workflow control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1520" y="5760720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6" name="Text 24">
            <a:hlinkClick r:id="rId7" tooltip="Jump to 07  ·  ASSETS" action="ppaction://hlinksldjump"/>
          </p:cNvPr>
          <p:cNvSpPr/>
          <p:nvPr/>
        </p:nvSpPr>
        <p:spPr>
          <a:xfrm>
            <a:off x="950976" y="5897880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7" action="ppaction://hlinksldjump" tooltip="Jump to 07  ·  ASSE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  ·  ASSETS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0976" y="6227064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File standards for circulation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IDENTITY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Identity Foundation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Signature 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presence is controlled by contrast, whitespace, and hierarchy.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primary wordmark states consistently on dark and light environments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accents reserved for section metadata and signature hierarchy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Avoid over-decoration and mixed type-scale conflicts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restraint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Campaign, internal, partner-facing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COLOUR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Colour Language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Palette &amp; Contrast Rules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palette relationships that preserve premium perception and clear contrast.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surfaces: black, charcoal, cream, ivory, and titanium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should be a focused accent, never the default body tone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Always preserve readability before decoration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Foreground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Black or cream surfaces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Highlight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 tags and separators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TYPOGRAPHY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Typography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Editorial Rhythm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Respect display and body pairing with strict metadata spacing.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Playfair Display for identity and headline blocks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DM Sans for body structure and explanatory copy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Mono only where metadata is the primary information carrier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Reserved for section anchors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claim + supporting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IMAGERY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Imagery Direction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Bento Visual Language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the environment quiet so material details remain primary, then distribute context across modular cards.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Panel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 visual first; keep surrounding elements calm.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15304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4760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Proof Panel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4760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Short claim backed by one data cue.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Context Panel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50976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Location, audience, and timing reference.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15304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4760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Execution Panel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4760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Production-ready status and next step.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742432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EFE9DE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615939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Visual cadence 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657087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optional montage strip, one to three supporting assets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DATA STORY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Data Storytelling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→ Evidence → Decision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Lead each data slide with one bold insight and one visual cue.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6328690" cy="1554480"/>
          </a:xfrm>
          <a:prstGeom prst="roundRect">
            <a:avLst>
              <a:gd name="adj" fmla="val 3529"/>
            </a:avLst>
          </a:prstGeom>
          <a:solidFill>
            <a:srgbClr val="1D1A16"/>
          </a:solidFill>
          <a:ln w="5080">
            <a:solidFill>
              <a:srgbClr val="22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9718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05456" y="3246120"/>
            <a:ext cx="44084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INSIGHT PER SLIDE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17720"/>
            <a:ext cx="6328690" cy="1536192"/>
          </a:xfrm>
          <a:prstGeom prst="roundRect">
            <a:avLst>
              <a:gd name="adj" fmla="val 3571"/>
            </a:avLst>
          </a:prstGeom>
          <a:solidFill>
            <a:srgbClr val="111111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727448"/>
            <a:ext cx="581662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State the insight in one sentence, then prove it with one reference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Choose simple chart framing over dense dashboards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 the action or decision clearly at the bottom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71106" y="2743200"/>
            <a:ext cx="4271949" cy="3840480"/>
          </a:xfrm>
          <a:prstGeom prst="roundRect">
            <a:avLst>
              <a:gd name="adj" fmla="val 1429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71106" y="4202582"/>
            <a:ext cx="42719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placeholder 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71106" y="4614062"/>
            <a:ext cx="42719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one chart or one comparative visual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DELIVERY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Delivery Governance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Review, Legal &amp; Localization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gates must be completed before circulation, even for urgent partner updates.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Validate claims and pricing against the approved master sheet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Route legal-sensitive language through legal review for every region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Localize terminology and product references before multilingual release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Sign-off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Mandatory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202936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Legal Sign-off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202936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 required by region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5687568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Localization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687568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EN/CN approved pairs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ASSETS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Asset Standards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Files, Exports &amp; Visual Consistency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exported file should preserve visual hierarchy and metadata for reusability.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6556248" cy="1673352"/>
          </a:xfrm>
          <a:prstGeom prst="roundRect">
            <a:avLst>
              <a:gd name="adj" fmla="val 327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604418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PPTX outputs must keep light/dark tone maps and 16:9 framing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DOCX outputs retain spacing and metadata blocks for legal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Generated PNG logos must be high-resolution and named by variant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6268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846320"/>
            <a:ext cx="6583680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93776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PPTX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93776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deck baseline + placeholders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55498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55498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Letterhead and release shell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6112" y="2779776"/>
            <a:ext cx="10746943" cy="3337560"/>
          </a:xfrm>
          <a:prstGeom prst="roundRect">
            <a:avLst>
              <a:gd name="adj" fmla="val 1644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048049"/>
            <a:ext cx="107469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/ Visual 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4459529"/>
            <a:ext cx="107469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visual evidence chart area here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39712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pic>
        <p:nvPicPr>
          <p:cNvPr id="3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5734" y="1353312"/>
            <a:ext cx="1380226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39696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4724248" y="3200400"/>
            <a:ext cx="274320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3364992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4B97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Crafted Beyond Measure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0" y="402336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  ·  </a:t>
            </a:r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press@vertu.com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0" y="4572000"/>
            <a:ext cx="12191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v4.0  ·  2026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VERTU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VERTU Brand Presentation v4.0</dc:title>
  <dc:subject>PptxGenJS Presentation</dc:subject>
  <dc:creator>VERTU Limited</dc:creator>
  <cp:lastModifiedBy>VERTU Limited</cp:lastModifiedBy>
  <cp:revision>1</cp:revision>
  <dcterms:created xsi:type="dcterms:W3CDTF">2026-03-06T16:47:36Z</dcterms:created>
  <dcterms:modified xsi:type="dcterms:W3CDTF">2026-03-06T16:47:36Z</dcterms:modified>
</cp:coreProperties>
</file>